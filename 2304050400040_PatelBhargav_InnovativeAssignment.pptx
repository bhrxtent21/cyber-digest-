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1F5F9"/>
                </a:solidFill>
                <a:latin typeface="Georgia"/>
              </a:defRPr>
            </a:pPr>
            <a:r>
              <a:t>CYBERCRIME CASE ANALYSIS &amp;</a:t>
            </a:r>
            <a:br/>
            <a:r>
              <a:t>RESPONSIBLE TECHNOLOGY SOLUTIONS</a:t>
            </a:r>
          </a:p>
          <a:p>
            <a:pPr>
              <a:defRPr sz="1800">
                <a:solidFill>
                  <a:srgbClr val="38BDF8"/>
                </a:solidFill>
                <a:latin typeface="Arial"/>
              </a:defRPr>
            </a:pPr>
            <a:r>
              <a:t>Analysis of I4C Cyber Digest Incidents, Digital Laws &amp; Ethical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640080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1F5F9"/>
                </a:solidFill>
                <a:latin typeface="Arial"/>
              </a:defRPr>
            </a:pPr>
            <a:r>
              <a:t>Presenter: Patel Bhargav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Enrollment No: 2304050400040</a:t>
            </a:r>
            <a:br/>
            <a:r>
              <a:t>Course: Ethical and Legal Frameworks for Digital Systems (MDC5011C)</a:t>
            </a:r>
            <a:br/>
            <a:r>
              <a:t>Semester: 7th Semester (I.Msc.IT)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389120"/>
            <a:ext cx="3474720" cy="16459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spcAft>
                <a:spcPts val="400"/>
              </a:spcAft>
              <a:defRPr sz="1400" b="1">
                <a:solidFill>
                  <a:srgbClr val="EF4444"/>
                </a:solidFill>
                <a:latin typeface="Georgia"/>
              </a:defRPr>
            </a:pPr>
            <a:r>
              <a:t>SILVER OAK UNIVERSITY</a:t>
            </a:r>
          </a:p>
          <a:p>
            <a:pPr algn="r">
              <a:defRPr sz="1100">
                <a:solidFill>
                  <a:srgbClr val="94A3B8"/>
                </a:solidFill>
                <a:latin typeface="Arial"/>
              </a:defRPr>
            </a:pPr>
            <a:r>
              <a:t>Silver Oak College of Computer Application</a:t>
            </a:r>
            <a:br/>
            <a:r>
              <a:t>Academic Year: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✔  Technical Deconstruction: </a:t>
            </a:r>
            <a:r>
              <a:rPr b="0" sz="1500">
                <a:solidFill>
                  <a:srgbClr val="94A3B8"/>
                </a:solidFill>
              </a:rPr>
              <a:t>Detail the step-by-step attack vectors (Modus Operandi) of five critical cybercrime incidents compiled from I4C Cyber Digest reports.</a:t>
            </a:r>
          </a:p>
          <a:p>
            <a:pPr>
              <a:spcAft>
                <a:spcPts val="20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✔  Legal Analysis &amp; Mapping: </a:t>
            </a:r>
            <a:r>
              <a:rPr b="0" sz="1500">
                <a:solidFill>
                  <a:srgbClr val="94A3B8"/>
                </a:solidFill>
              </a:rPr>
              <a:t>Align modern incidents with specific punitive provisions under the IT Act 2000, Bharatiya Nyaya Sanhita (BNS) 2023, and the DPDP Act 2023.</a:t>
            </a:r>
          </a:p>
          <a:p>
            <a:pPr>
              <a:spcAft>
                <a:spcPts val="20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✔  Ethical Evaluation: </a:t>
            </a:r>
            <a:r>
              <a:rPr b="0" sz="1500">
                <a:solidFill>
                  <a:srgbClr val="94A3B8"/>
                </a:solidFill>
              </a:rPr>
              <a:t>Critique ethical concerns, including the breach of bodily digital privacy, psychological coercion, lack of consent, and exploitation of vulnerable demographics.</a:t>
            </a:r>
          </a:p>
          <a:p>
            <a:pPr>
              <a:spcAft>
                <a:spcPts val="2000"/>
              </a:spcAft>
              <a:defRPr sz="1800" b="1">
                <a:solidFill>
                  <a:srgbClr val="F1F5F9"/>
                </a:solidFill>
                <a:latin typeface="Arial"/>
              </a:defRPr>
            </a:pPr>
            <a:r>
              <a:t>✔  Practical Prototyping: </a:t>
            </a:r>
            <a:r>
              <a:rPr b="0" sz="1500">
                <a:solidFill>
                  <a:srgbClr val="94A3B8"/>
                </a:solidFill>
              </a:rPr>
              <a:t>Design and build an interactive web-based learning portal featuring a Threat Simulator, Law Mapper, and AI Cyber Advisor to empower public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NCRP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1F5F9"/>
                </a:solidFill>
                <a:latin typeface="Arial"/>
              </a:defRPr>
            </a:pPr>
            <a:r>
              <a:t>Exponential Rise in Digital Threat Landscape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Rapid Adoption vs. Tech Literacy:</a:t>
            </a:r>
            <a:r>
              <a:rPr b="0">
                <a:solidFill>
                  <a:srgbClr val="94A3B8"/>
                </a:solidFill>
              </a:rPr>
              <a:t> Financial inclusion services have outpaced consumer threat awareness, leaving gaps for scammers.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Scale of NCRP Reports:</a:t>
            </a:r>
            <a:r>
              <a:rPr b="0">
                <a:solidFill>
                  <a:srgbClr val="94A3B8"/>
                </a:solidFill>
              </a:rPr>
              <a:t> Annual cybercrime complaints logged on the NCRP portal are projected to climb to 18.2 Lakhs in 2025, from 3.1 Lakhs in 2020.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Economic Cost:</a:t>
            </a:r>
            <a:r>
              <a:rPr b="0">
                <a:solidFill>
                  <a:srgbClr val="94A3B8"/>
                </a:solidFill>
              </a:rPr>
              <a:t> Financial losses are estimated to exceed ₹15,000 Crore in 2025, driven by mule account networks.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I4C &amp; MHA Intervention:</a:t>
            </a:r>
            <a:r>
              <a:rPr b="0">
                <a:solidFill>
                  <a:srgbClr val="94A3B8"/>
                </a:solidFill>
              </a:rPr>
              <a:t> Prompts the deployment of Helpline 1930 and coordination platforms to block siphoned transactions.</a:t>
            </a:r>
          </a:p>
        </p:txBody>
      </p:sp>
      <p:pic>
        <p:nvPicPr>
          <p:cNvPr id="5" name="Picture 4" descr="cybercrime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Case Study 1: AePS Biometric Cloning Fraud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Modus Operandi: </a:t>
            </a:r>
            <a:r>
              <a:rPr b="0">
                <a:solidFill>
                  <a:srgbClr val="F1F5F9"/>
                </a:solidFill>
              </a:rPr>
              <a:t>Registry Scraping -&gt; Silicone print replica -&gt; Cash withdrawals via retail micro-ATMs (Bypasses OTP validation).</a:t>
            </a:r>
          </a:p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Legal Mapping: </a:t>
            </a:r>
            <a:r>
              <a:rPr b="0">
                <a:solidFill>
                  <a:srgbClr val="F1F5F9"/>
                </a:solidFill>
              </a:rPr>
              <a:t>IT Act Sec 66C (Identity Theft), Sec 43 (Access); DPDP Act Sec 8 (Registry Data breach liability); BNS Sec 318 (Cheating).</a:t>
            </a:r>
          </a:p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</a:defRPr>
            </a:pPr>
            <a:r>
              <a:t>Empirical Evidence / Proof: </a:t>
            </a:r>
            <a:r>
              <a:rPr b="0">
                <a:solidFill>
                  <a:srgbClr val="F1F5F9"/>
                </a:solidFill>
              </a:rPr>
              <a:t>FIR No. 124/2023 (Gurgaon Cyber Cell): Arrested gang cloned land registry prints, stole ₹18 Lakhs. 350 silicone fingers, scanners seized.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Specific Mitigation: </a:t>
            </a:r>
            <a:r>
              <a:rPr b="0">
                <a:solidFill>
                  <a:srgbClr val="F1F5F9"/>
                </a:solidFill>
              </a:rPr>
              <a:t>Lock Aadhaar Biometrics via mAadhaar app or UIDAI website. Mask biometric data in public land deeds.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Case Study 2: Digital Arrest &amp; Extortion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Modus Operandi: </a:t>
            </a:r>
            <a:r>
              <a:rPr b="0">
                <a:solidFill>
                  <a:srgbClr val="F1F5F9"/>
                </a:solidFill>
              </a:rPr>
              <a:t>Intercepted parcel drug warning -&gt; Skype call with fake police -&gt; 24/7 digital containment -&gt; Extorted transfers to 'verification accounts'.</a:t>
            </a:r>
          </a:p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Legal Mapping: </a:t>
            </a:r>
            <a:r>
              <a:rPr b="0">
                <a:solidFill>
                  <a:srgbClr val="F1F5F9"/>
                </a:solidFill>
              </a:rPr>
              <a:t>IT Act Sec 66D (Cheating by Personation); BNS Sec 308 (Extortion), Sec 204 (Impersonation), Sec 351 (Intimidation).</a:t>
            </a:r>
          </a:p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</a:defRPr>
            </a:pPr>
            <a:r>
              <a:t>Empirical Evidence / Proof: </a:t>
            </a:r>
            <a:r>
              <a:rPr b="0">
                <a:solidFill>
                  <a:srgbClr val="F1F5F9"/>
                </a:solidFill>
              </a:rPr>
              <a:t>MHA Alert (I4C-DA-2024): Retired manager in Noida lost ₹82 Lakhs after being held on Skype for 5 days. Patna suspects arrested.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Specific Mitigation: </a:t>
            </a:r>
            <a:r>
              <a:rPr b="0">
                <a:solidFill>
                  <a:srgbClr val="F1F5F9"/>
                </a:solidFill>
              </a:rPr>
              <a:t>Disconnect immediately. Indian law enforcement never conducts interrogations or makes arrests via video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Case Study 3: Telegram Task &amp; Part-Time Job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Modus Operandi: </a:t>
            </a:r>
            <a:r>
              <a:rPr b="0">
                <a:solidFill>
                  <a:srgbClr val="F1F5F9"/>
                </a:solidFill>
              </a:rPr>
              <a:t>Unsolicited work-from-home offers -&gt; Paid ₹150 for likes (trust-building) -&gt; VIP Telegram deposits -&gt; Locked funds.</a:t>
            </a:r>
          </a:p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Legal Mapping: </a:t>
            </a:r>
            <a:r>
              <a:rPr b="0">
                <a:solidFill>
                  <a:srgbClr val="F1F5F9"/>
                </a:solidFill>
              </a:rPr>
              <a:t>IT Act Sec 66D (Personation Cheating); BNS Sec 318 (Cheating) &amp; Sec 61 (Criminal Conspiracy).</a:t>
            </a:r>
          </a:p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</a:defRPr>
            </a:pPr>
            <a:r>
              <a:t>Empirical Evidence / Proof: </a:t>
            </a:r>
            <a:r>
              <a:rPr b="0">
                <a:solidFill>
                  <a:srgbClr val="F1F5F9"/>
                </a:solidFill>
              </a:rPr>
              <a:t>Delhi Cyber Branch (FIR No. 210/2023): Disrupted a syndicate laundering ₹110 Crore. Blocked multiple shell wallets and APK platforms.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Specific Mitigation: </a:t>
            </a:r>
            <a:r>
              <a:rPr b="0">
                <a:solidFill>
                  <a:srgbClr val="F1F5F9"/>
                </a:solidFill>
              </a:rPr>
              <a:t>Reject job offers requiring deposit fees. Verify recruiter details directly on the company's verified website.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Case Study 4: SEBI-Impersonating Trading App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Modus Operandi: </a:t>
            </a:r>
            <a:r>
              <a:rPr b="0">
                <a:solidFill>
                  <a:srgbClr val="F1F5F9"/>
                </a:solidFill>
              </a:rPr>
              <a:t>VIP stock tip WhatsApp groups -&gt; Unofficial APK download -&gt; Simulated gains on rigged UI -&gt; Blocked withdrawal &amp; tax demands.</a:t>
            </a:r>
          </a:p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Legal Mapping: </a:t>
            </a:r>
            <a:r>
              <a:rPr b="0">
                <a:solidFill>
                  <a:srgbClr val="F1F5F9"/>
                </a:solidFill>
              </a:rPr>
              <a:t>IT Act Sec 66C/66D; SEBI Act Sec 12 (Unregistered Advice); BNS Sec 336/340 (Forgery of SEBI certificates).</a:t>
            </a:r>
          </a:p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</a:defRPr>
            </a:pPr>
            <a:r>
              <a:t>Empirical Evidence / Proof: </a:t>
            </a:r>
            <a:r>
              <a:rPr b="0">
                <a:solidFill>
                  <a:srgbClr val="F1F5F9"/>
                </a:solidFill>
              </a:rPr>
              <a:t>SEBI Warning (PR No. 05/2024): Public warnings against WhatsApp trading groups. 120 mule bank accounts frozen.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Specific Mitigation: </a:t>
            </a:r>
            <a:r>
              <a:rPr b="0">
                <a:solidFill>
                  <a:srgbClr val="F1F5F9"/>
                </a:solidFill>
              </a:rPr>
              <a:t>Verify SEBI registration numbers on sebi.gov.in. Never download financial apps via direct browser links.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Case Study 5: Electricity Bill KYC &amp; Remote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Modus Operandi: </a:t>
            </a:r>
            <a:r>
              <a:rPr b="0">
                <a:solidFill>
                  <a:srgbClr val="F1F5F9"/>
                </a:solidFill>
              </a:rPr>
              <a:t>Urgent SMS warning utility cutoff -&gt; Instructed to download AnyDesk/TeamViewer to pay ₹10 fee -&gt; OTP read from screen -&gt; Accounts drained.</a:t>
            </a:r>
          </a:p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Legal Mapping: </a:t>
            </a:r>
            <a:r>
              <a:rPr b="0">
                <a:solidFill>
                  <a:srgbClr val="F1F5F9"/>
                </a:solidFill>
              </a:rPr>
              <a:t>IT Act Sec 43 (System Intrusion), Sec 66 (Fraud), Sec 66C (Credential Theft), Sec 66D (Personation); BNS Sec 318.</a:t>
            </a:r>
          </a:p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</a:defRPr>
            </a:pPr>
            <a:r>
              <a:t>Empirical Evidence / Proof: </a:t>
            </a:r>
            <a:r>
              <a:rPr b="0">
                <a:solidFill>
                  <a:srgbClr val="F1F5F9"/>
                </a:solidFill>
              </a:rPr>
              <a:t>Advisory No. 42/2023 (Maharashtra Cyber): Over 1,200 complaints, ₹4.8 Crore stolen via AnyDesk meter scams.</a:t>
            </a:r>
          </a:p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Specific Mitigation: </a:t>
            </a:r>
            <a:r>
              <a:rPr b="0">
                <a:solidFill>
                  <a:srgbClr val="F1F5F9"/>
                </a:solidFill>
              </a:rPr>
              <a:t>Utility boards do not warn disconnections via personal 10-digit mobile numbers or demand screen-sharing apps.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Unprotected vs. Protected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512064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43F5E"/>
                </a:solidFill>
                <a:latin typeface="Arial"/>
              </a:defRPr>
            </a:pPr>
            <a:r>
              <a:t>✖  Unprotected System State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Biometrics are left open in public registry PDF databases, leaving them vulnerable to cloning.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Users install screen-sharing software (AnyDesk) during phone calls to verify accounts.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Applications are downloaded from third-party APK links shared on WhatsApp groups.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</a:defRPr>
            </a:pPr>
            <a:r>
              <a:t>• Victims delay reporting scams, resulting in the loss of siphoned funds.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463040"/>
            <a:ext cx="512064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✔  Protected System State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• Aadhaar Biometrics locked via mAadhaar; dual-factor (PIN + biometric) authentication active.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• Banking apps restrict screen sharing, preventing credentials from being recorded.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• Financial portals are installed exclusively from verified app stores after checking sebi.gov.in.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</a:defRPr>
            </a:pPr>
            <a:r>
              <a:t>• Victims call Helpline 1930 within the Golden Hour to freeze bank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Proposed Solution: Learning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An interactive, web-based training dashboard designed in vanilla HTML/CSS/JS: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•  Dynamic Case Explorer: </a:t>
            </a:r>
            <a:r>
              <a:rPr b="0">
                <a:solidFill>
                  <a:srgbClr val="94A3B8"/>
                </a:solidFill>
              </a:rPr>
              <a:t>Analyzes technical threat vectors, laws, and prevention for all five cases.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•  Interactive Law Mapper: </a:t>
            </a:r>
            <a:r>
              <a:rPr b="0">
                <a:solidFill>
                  <a:srgbClr val="94A3B8"/>
                </a:solidFill>
              </a:rPr>
              <a:t>Enables users to search and filter key provisions of the IT Act, BNS, and DPDP Act.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•  Threat Awareness Simulator: </a:t>
            </a:r>
            <a:r>
              <a:rPr b="0">
                <a:solidFill>
                  <a:srgbClr val="94A3B8"/>
                </a:solidFill>
              </a:rPr>
              <a:t>A quiz-based scenario tool that guides users through common social engineering red flags.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•  AI Cyber Advisor: </a:t>
            </a:r>
            <a:r>
              <a:rPr b="0">
                <a:solidFill>
                  <a:srgbClr val="94A3B8"/>
                </a:solidFill>
              </a:rPr>
              <a:t>A responsive conversational assistant providing instant guidance on cyber safety.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Digital Ethics: Developer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Guidelines for designing ethical and compliant digital solutions under DPDP Act 2023:</a:t>
            </a:r>
          </a:p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✔  Privacy by Design: </a:t>
            </a:r>
            <a:r>
              <a:rPr b="0">
                <a:solidFill>
                  <a:srgbClr val="94A3B8"/>
                </a:solidFill>
              </a:rPr>
              <a:t>Implement consent options in application forms. Users must be able to manage their preferences easily.</a:t>
            </a:r>
          </a:p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✔  Avoid Dark Patterns: </a:t>
            </a:r>
            <a:r>
              <a:rPr b="0">
                <a:solidFill>
                  <a:srgbClr val="94A3B8"/>
                </a:solidFill>
              </a:rPr>
              <a:t>Ensure user interfaces are clear and transparent; do not use deceptive designs to influence user behavior.</a:t>
            </a:r>
          </a:p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✔  Localize Biometrics: </a:t>
            </a:r>
            <a:r>
              <a:rPr b="0">
                <a:solidFill>
                  <a:srgbClr val="94A3B8"/>
                </a:solidFill>
              </a:rPr>
              <a:t>Store biometric data in hardware secure enclaves (such as TPMs) rather than public databases.</a:t>
            </a:r>
          </a:p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✔  Security Auditing: </a:t>
            </a:r>
            <a:r>
              <a:rPr b="0">
                <a:solidFill>
                  <a:srgbClr val="94A3B8"/>
                </a:solidFill>
              </a:rPr>
              <a:t>Regularly audit databases containing registry documents or customer profiles to prevent scraping.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Georgia"/>
              </a:defRPr>
            </a:pPr>
            <a:r>
              <a:t>Conclusion &amp; Helpline 1930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1F5F9"/>
                </a:solidFill>
                <a:latin typeface="Georgia"/>
              </a:defRPr>
            </a:pPr>
            <a:r>
              <a:t>Securing the Digital Citizen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System security requires combining secure development, legal compliance, and user education.</a:t>
            </a:r>
          </a:p>
          <a:p>
            <a:pPr>
              <a:spcAft>
                <a:spcPts val="600"/>
              </a:spcAft>
              <a:defRPr sz="2000" b="1">
                <a:solidFill>
                  <a:srgbClr val="F43F5E"/>
                </a:solidFill>
              </a:defRPr>
            </a:pPr>
            <a:r>
              <a:t>REPORT FINANCIAL FRAUD IMMEDIATELY TO HELPLINE 1930</a:t>
            </a:r>
          </a:p>
          <a:p>
            <a:pPr>
              <a:defRPr sz="1500">
                <a:solidFill>
                  <a:srgbClr val="F1F5F9"/>
                </a:solidFill>
              </a:defRPr>
            </a:pPr>
            <a:r>
              <a:t>File a complaint on cybercrime.gov.in within the 'Golden Hour' to freeze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